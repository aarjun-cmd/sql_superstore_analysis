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2" r:id="rId7"/>
    <p:sldId id="260" r:id="rId8"/>
    <p:sldId id="261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3BD0C-D25E-46C7-B24D-868AFEF3B98D}" v="45" dt="2025-11-07T13:02:41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4824F-A516-410A-8DBB-D41AE45793A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AFF1F-A04B-426F-A455-13EBCFAB7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09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889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7864-5C5B-3F4F-1110-36A3B26A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A7529-D2F4-6C25-5287-59FE59376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EF8E6-6671-4F54-C925-3D16823B2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64A25-99E9-F259-8F70-01CD04169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889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65C6-1D89-A3AC-A9C7-281AA62AD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8B4CF-A079-DD12-372C-4341E3D45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E39BC-22A5-E372-D53B-6B1B03794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0F538-84EF-8BA7-0A4F-821802F06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400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1B97D-FEC2-AD1A-738D-EDFE32279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09B97-FA30-6240-787E-E35A443D6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3CD1C-6DC9-084B-095C-FADA7913F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B4600-7F84-A02B-CC90-4C82204AE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386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57566-C759-6EC3-79E0-12E976CCD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87C73-5560-1AE5-DBDF-E3EF59541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C7A25-F20D-5EFB-1812-27C333CDA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B5128-AF03-8E76-C4F7-8F31FA6E1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281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DE709-13B3-B2E7-A88C-19D1B437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C1B76-A640-CB70-56A3-BE6532AB2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90744-8B71-49E6-44DD-18D3F5C22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B5FC4-71B1-2AE4-29BE-CCDE3D961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768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8545-25FF-3F79-0313-CDBE5BAE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000C3-07A7-36D6-DB3B-474D56645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E9C86-6CBA-68E5-E8B0-9103B3EAC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219B2-E781-C235-0375-48AF5ED4E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99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D529-0E52-C086-381B-8AA2E964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9E755-AA01-4961-2F79-31678A4B9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13D14-2A02-8194-7414-34B4A9583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F76EE-3474-90ED-D5AB-1FADAA325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032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E3D6-D75D-286A-A457-84FF02A6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449D0-3738-8A29-3857-56F343567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4A23D-E183-D9AD-827B-7B46361C6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2EF7E-1813-808B-D71E-AFCE2A39B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048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0785-741D-7592-A533-38E87892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6CA0F-8507-4E0F-5864-D4529A876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CAC45-760F-671D-ABB8-CA8F7EBFF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A4F39-8437-BD21-CC44-E9D0D2216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101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4B88-67C4-EFD6-6314-A14E1CDF4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3E725-8CEC-CC58-E372-4059C8217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A6853-B0D4-C868-7353-6FE569F34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115C7-1D9F-6B3B-2408-95CE3ACFE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631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7FC0D-625E-D485-5DA3-13651C20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37E6B-577C-EC05-CF00-DB921C224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F23D6-8B7A-6C61-BB90-49568F7EE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C6C1B-CDC1-C516-8AF9-90ECE50D9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339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153DB-5B6E-A3C0-8D3C-5481D47F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23CDF-0CF4-C607-926B-ED5F715BE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1C15A-4612-D18E-049B-66ACD63D6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5A895-793B-F64E-7B85-C735C3664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7AFF1F-A04B-426F-A455-13EBCFAB7FC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161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F07EE-4859-44ED-C73F-A4B843EDD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BD183-1592-0B26-A469-18C0312D7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B0388-421A-C983-CAD3-83423FA42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81FF1-7D9E-A428-E641-5439795D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ABA1A-2AC7-A306-1034-D59B17FAC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4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2D87-3E14-18E5-6186-72C8F409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5771-E6A3-3E1B-A76E-F83D6CFF2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BBC7-14DB-3737-0E8E-2EFEE16D2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C3349-F71D-26E5-5AFA-B3A0ABA1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6FC9A-957A-0D8A-828A-0946373E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976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69B9-902C-DF02-CA06-1729DF35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84E1E-D46F-CA6E-7CB9-99493A014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69833-DE42-E018-9049-4847CB30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D5C53-0839-B438-C120-4FA9E480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2BC83-58B6-09E8-61EB-81371BA7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557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191A7-BA66-0049-7A9B-43DC04110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19851-BCFD-E170-B6E9-41336B894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4D906-172B-5066-FDBC-48EDE58C1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704A9-FC77-7EB9-6F5A-0F1C0D77E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9564D-4FB9-ECD4-ABAF-BE5BFC67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F7C0C-371D-BCAD-AC63-7BEC157A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08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AB62-32A6-F166-16BB-0882519BF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0D7C6-61A8-6F51-2A83-431338446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CC228-7DC2-19B6-5FD3-F0FA746CA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32F45-4573-C1E2-1A42-89FDE6C76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CC2C9-74B8-4613-D248-A4097B22D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0A227D-F96B-21C3-506A-05B91A478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B043F0-C9F3-D1DF-4B79-8783E9088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18429-CA5A-F535-A0BF-689E75F5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99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CA178-4386-D511-A2F5-4B3A8184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D67F7F-3294-975F-658D-386BCAE0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BD71-727A-5001-88CC-113067CB4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50662-958E-2C19-E895-3BC8328A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84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AFA85-43C4-9CCD-313B-4987A014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F83B6-6BAB-C5C2-289C-D3885B10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0ABF3-61A6-383F-D784-7479E3C9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28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380B0-AA14-910B-F3FE-7D9AD51B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A7971-F176-2533-2CBA-9F22F3DCB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431E5-D7A3-DE0D-DA7D-24DBD92C6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2A906-00EA-06FC-0D86-616A0694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1E062-6A5B-0219-FB62-91A2DD75D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C30EB-22CB-1EF2-CCF9-21354F42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97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0B13-3FFE-2AD6-060B-7D1A6F75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0A20B-E2B2-097F-CDE7-61AA96302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34D83-9B6B-D6EF-BAE8-95894ECE0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719B01-2E14-9108-FC35-CD31641F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A9BD8-DE5D-9893-920A-092FB5AF3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210DF-CDC9-0B93-093A-BB14D41CB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9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ECEC-2BA6-414C-718C-4A024858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2F09F-3890-1501-9D8A-B3B571819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6722D-69C6-BFE6-820F-C573DFF2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DC5B1-EB44-BF0C-BBD5-B44C4439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2333D-9754-819E-434F-3826A56D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8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97886-DAA4-CCF1-3774-E45E736849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18605-B9A6-08A7-C0E9-AB783CF05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C4718-0992-2C27-E1E2-6B202551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9168D-0B8E-B8BD-4B6A-0F93470F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DE16F-38B5-F942-77A0-3A4E246D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28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16A45-8A44-945C-EEAB-422ED543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ED411-20DF-865C-5BA6-B526970A7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B257A-CF45-F37E-1F5D-FF02EA8BD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E8654-7B50-4D0A-86FC-F240E6A5B13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FFAEF-645D-4AE1-9B7E-064AA1B2D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87AF-82CD-45EE-792C-C4BC9F3DB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2CD23-E848-4FF4-8E8A-D9D9E578F3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3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BC75A7-F8F1-B7FC-B199-684CE93005D9}"/>
              </a:ext>
            </a:extLst>
          </p:cNvPr>
          <p:cNvSpPr txBox="1"/>
          <p:nvPr/>
        </p:nvSpPr>
        <p:spPr>
          <a:xfrm>
            <a:off x="10054541" y="6481823"/>
            <a:ext cx="2137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ARJUN  GAWANDE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E3234C-6765-B832-E72F-58DF39CC0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78" y="544562"/>
            <a:ext cx="2970844" cy="2970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00C43F-B207-208A-2401-B5DDEA1876DD}"/>
              </a:ext>
            </a:extLst>
          </p:cNvPr>
          <p:cNvSpPr txBox="1"/>
          <p:nvPr/>
        </p:nvSpPr>
        <p:spPr>
          <a:xfrm>
            <a:off x="4308799" y="4534000"/>
            <a:ext cx="3873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BY ARJUN GAWANDE</a:t>
            </a:r>
            <a:endParaRPr lang="en-IN" sz="3200" dirty="0">
              <a:solidFill>
                <a:schemeClr val="accent5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A98905-412C-2FA7-EF52-C81EB3419151}"/>
              </a:ext>
            </a:extLst>
          </p:cNvPr>
          <p:cNvSpPr txBox="1"/>
          <p:nvPr/>
        </p:nvSpPr>
        <p:spPr>
          <a:xfrm>
            <a:off x="3907572" y="3232355"/>
            <a:ext cx="46759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SUPERSTORE DATA </a:t>
            </a:r>
          </a:p>
          <a:p>
            <a:r>
              <a:rPr lang="en-US" sz="4400" dirty="0"/>
              <a:t>        ANALYSIS 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3494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61C2E-6BF5-CD6F-DD4D-B281E69E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AE3AAC-51AC-E001-284B-1A3CD5925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ABF52-BD40-5302-97AA-BFDB3E50EA21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1FC916-10F4-9663-A3B5-FF7DB9E53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1948" cy="471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5A15D8-5B30-D825-F94A-3BD6B5E5B6D7}"/>
              </a:ext>
            </a:extLst>
          </p:cNvPr>
          <p:cNvSpPr txBox="1"/>
          <p:nvPr/>
        </p:nvSpPr>
        <p:spPr>
          <a:xfrm>
            <a:off x="100692" y="582750"/>
            <a:ext cx="1126856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🔎 Problem Statement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Superstore dataset</a:t>
            </a:r>
            <a:r>
              <a:rPr lang="en-US" sz="2800" dirty="0"/>
              <a:t> contains sales transactions from 2011–2015 across multiple markets, regions, and product categories.</a:t>
            </a:r>
            <a:br>
              <a:rPr lang="en-US" sz="2800" dirty="0"/>
            </a:br>
            <a:r>
              <a:rPr lang="en-US" sz="2800" dirty="0"/>
              <a:t>Key challenges include:</a:t>
            </a:r>
          </a:p>
          <a:p>
            <a:r>
              <a:rPr lang="en-US" sz="2800" dirty="0"/>
              <a:t>Understanding </a:t>
            </a:r>
            <a:r>
              <a:rPr lang="en-US" sz="2800" b="1" dirty="0"/>
              <a:t>sales trends</a:t>
            </a:r>
            <a:r>
              <a:rPr lang="en-US" sz="2800" dirty="0"/>
              <a:t> 📊 across geographies, time, and customer segments.</a:t>
            </a:r>
          </a:p>
          <a:p>
            <a:r>
              <a:rPr lang="en-US" sz="2800" dirty="0"/>
              <a:t>Identifying </a:t>
            </a:r>
            <a:r>
              <a:rPr lang="en-US" sz="2800" b="1" dirty="0"/>
              <a:t>profitability issues</a:t>
            </a:r>
            <a:r>
              <a:rPr lang="en-US" sz="2800" dirty="0"/>
              <a:t> 💸, e.g., high discounts leading to negative profits.</a:t>
            </a:r>
          </a:p>
          <a:p>
            <a:r>
              <a:rPr lang="en-US" sz="2800" dirty="0"/>
              <a:t>Evaluating </a:t>
            </a:r>
            <a:r>
              <a:rPr lang="en-US" sz="2800" b="1" dirty="0"/>
              <a:t>shipping costs &amp; delivery times</a:t>
            </a:r>
            <a:r>
              <a:rPr lang="en-US" sz="2800" dirty="0"/>
              <a:t> 🚚 and their impact on profit.</a:t>
            </a:r>
          </a:p>
          <a:p>
            <a:r>
              <a:rPr lang="en-US" sz="2800" dirty="0"/>
              <a:t>Optimizing </a:t>
            </a:r>
            <a:r>
              <a:rPr lang="en-US" sz="2800" b="1" dirty="0"/>
              <a:t>product performance</a:t>
            </a:r>
            <a:r>
              <a:rPr lang="en-US" sz="2800" dirty="0"/>
              <a:t> 📦 by analyzing categories, sub-categories, and regions.</a:t>
            </a:r>
          </a:p>
          <a:p>
            <a:r>
              <a:rPr lang="en-US" sz="2800" dirty="0"/>
              <a:t>Managing </a:t>
            </a:r>
            <a:r>
              <a:rPr lang="en-US" sz="2800" b="1" dirty="0"/>
              <a:t>customer segmentation &amp; loyalty</a:t>
            </a:r>
            <a:r>
              <a:rPr lang="en-US" sz="2800" dirty="0"/>
              <a:t> 👥 for targeted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96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7BC86-0F20-6DD7-350B-BE2EF7CF7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606EC2-DA07-5F85-3377-D99C80C8AD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6FFB5-4C18-1E85-C42F-7CB1E579D5E1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DB15C8-7735-DCE3-C8B5-1350C71C9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0B978B-EE76-4F55-78CB-BC98004E1A01}"/>
              </a:ext>
            </a:extLst>
          </p:cNvPr>
          <p:cNvSpPr txBox="1"/>
          <p:nvPr/>
        </p:nvSpPr>
        <p:spPr>
          <a:xfrm>
            <a:off x="68826" y="707923"/>
            <a:ext cx="11995355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📊 Data Overview (2011–2015 Superstore)</a:t>
            </a:r>
          </a:p>
          <a:p>
            <a:r>
              <a:rPr lang="en-IN" sz="2800" dirty="0"/>
              <a:t>✨ </a:t>
            </a:r>
            <a:r>
              <a:rPr lang="en-IN" sz="2800" b="1" dirty="0"/>
              <a:t>Dataset Size</a:t>
            </a:r>
            <a:r>
              <a:rPr lang="en-IN" sz="2800" dirty="0"/>
              <a:t>: 51,290 rows × 24 columns</a:t>
            </a:r>
            <a:br>
              <a:rPr lang="en-IN" sz="2800" dirty="0"/>
            </a:br>
            <a:r>
              <a:rPr lang="en-IN" sz="2800" dirty="0"/>
              <a:t>📦 </a:t>
            </a:r>
            <a:r>
              <a:rPr lang="en-IN" sz="2800" b="1" dirty="0"/>
              <a:t>Product Coverage</a:t>
            </a:r>
            <a:r>
              <a:rPr lang="en-IN" sz="2800" dirty="0"/>
              <a:t>: 3 main categories (Office Supplies, Furniture, Technology)</a:t>
            </a:r>
            <a:br>
              <a:rPr lang="en-IN" sz="2800" dirty="0"/>
            </a:br>
            <a:r>
              <a:rPr lang="en-IN" sz="2800" dirty="0"/>
              <a:t>🌍 </a:t>
            </a:r>
            <a:r>
              <a:rPr lang="en-IN" sz="2800" b="1" dirty="0"/>
              <a:t>Markets</a:t>
            </a:r>
            <a:r>
              <a:rPr lang="en-IN" sz="2800" dirty="0"/>
              <a:t>: Africa, APAC, EMEA, LATAM, US, EU</a:t>
            </a:r>
            <a:br>
              <a:rPr lang="en-IN" sz="2800" dirty="0"/>
            </a:br>
            <a:r>
              <a:rPr lang="en-IN" sz="2800" dirty="0"/>
              <a:t>👥 </a:t>
            </a:r>
            <a:r>
              <a:rPr lang="en-IN" sz="2800" b="1" dirty="0"/>
              <a:t>Segments</a:t>
            </a:r>
            <a:r>
              <a:rPr lang="en-IN" sz="2800" dirty="0"/>
              <a:t>: Consumer, Corporate, Home Office</a:t>
            </a:r>
          </a:p>
          <a:p>
            <a:br>
              <a:rPr lang="en-IN" sz="2800" dirty="0"/>
            </a:br>
            <a:r>
              <a:rPr lang="en-IN" sz="2800" b="1" dirty="0"/>
              <a:t>📌 Key Points (with Emojis)</a:t>
            </a:r>
          </a:p>
          <a:p>
            <a:r>
              <a:rPr lang="en-IN" sz="2800" dirty="0"/>
              <a:t>📑 </a:t>
            </a:r>
            <a:r>
              <a:rPr lang="en-IN" sz="2800" b="1" dirty="0"/>
              <a:t>Row ID</a:t>
            </a:r>
            <a:r>
              <a:rPr lang="en-IN" sz="2800" dirty="0"/>
              <a:t> → Unique transaction identifier</a:t>
            </a:r>
          </a:p>
          <a:p>
            <a:r>
              <a:rPr lang="en-IN" sz="2800" dirty="0"/>
              <a:t>🧾 </a:t>
            </a:r>
            <a:r>
              <a:rPr lang="en-IN" sz="2800" b="1" dirty="0"/>
              <a:t>Order ID</a:t>
            </a:r>
            <a:r>
              <a:rPr lang="en-IN" sz="2800" dirty="0"/>
              <a:t> → Tracks each customer’s order</a:t>
            </a:r>
          </a:p>
          <a:p>
            <a:r>
              <a:rPr lang="en-IN" sz="2800" dirty="0"/>
              <a:t>📅 </a:t>
            </a:r>
            <a:r>
              <a:rPr lang="en-IN" sz="2800" b="1" dirty="0"/>
              <a:t>Dates</a:t>
            </a:r>
            <a:r>
              <a:rPr lang="en-IN" sz="2800" dirty="0"/>
              <a:t> → Order &amp; Shipping for delivery performance</a:t>
            </a:r>
          </a:p>
          <a:p>
            <a:r>
              <a:rPr lang="en-IN" sz="2800" dirty="0"/>
              <a:t>🚚 </a:t>
            </a:r>
            <a:r>
              <a:rPr lang="en-IN" sz="2800" b="1" dirty="0"/>
              <a:t>Ship Mode</a:t>
            </a:r>
            <a:r>
              <a:rPr lang="en-IN" sz="2800" dirty="0"/>
              <a:t> → Standard, Second Class, etc.</a:t>
            </a:r>
          </a:p>
          <a:p>
            <a:r>
              <a:rPr lang="en-IN" sz="2800" dirty="0"/>
              <a:t>🧍 </a:t>
            </a:r>
            <a:r>
              <a:rPr lang="en-IN" sz="2800" b="1" dirty="0"/>
              <a:t>Customer Info</a:t>
            </a:r>
            <a:r>
              <a:rPr lang="en-IN" sz="2800" dirty="0"/>
              <a:t> → ID, Name, Segment</a:t>
            </a:r>
          </a:p>
          <a:p>
            <a:r>
              <a:rPr lang="en-IN" sz="2800" dirty="0"/>
              <a:t>🏙️ </a:t>
            </a:r>
            <a:r>
              <a:rPr lang="en-IN" sz="2800" b="1" dirty="0"/>
              <a:t>Location Data</a:t>
            </a:r>
            <a:r>
              <a:rPr lang="en-IN" sz="2800" dirty="0"/>
              <a:t> → City, State, Country, Market, Region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64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D7AE-50DB-DFDE-E812-46498F17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367D1B5-C7E8-A6C8-0B0F-60E2F0A0C4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659D9-81B7-8967-9C7E-1389C60F757A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33926D-DA85-DF45-B462-09876EADD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A66F49-65C5-D1FD-C075-FF47B68FCA67}"/>
              </a:ext>
            </a:extLst>
          </p:cNvPr>
          <p:cNvSpPr txBox="1"/>
          <p:nvPr/>
        </p:nvSpPr>
        <p:spPr>
          <a:xfrm>
            <a:off x="283339" y="678399"/>
            <a:ext cx="1030420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🛒 </a:t>
            </a:r>
            <a:r>
              <a:rPr lang="en-IN" sz="2800" b="1" dirty="0"/>
              <a:t>Product Info</a:t>
            </a:r>
            <a:r>
              <a:rPr lang="en-IN" sz="2800" dirty="0"/>
              <a:t> → ID, Name, Category, Sub-category</a:t>
            </a:r>
          </a:p>
          <a:p>
            <a:r>
              <a:rPr lang="en-IN" sz="2800" dirty="0"/>
              <a:t>💵 </a:t>
            </a:r>
            <a:r>
              <a:rPr lang="en-IN" sz="2800" b="1" dirty="0"/>
              <a:t>Sales</a:t>
            </a:r>
            <a:r>
              <a:rPr lang="en-IN" sz="2800" dirty="0"/>
              <a:t> → Revenue from sale</a:t>
            </a:r>
          </a:p>
          <a:p>
            <a:r>
              <a:rPr lang="en-IN" sz="2800" dirty="0"/>
              <a:t>📦 </a:t>
            </a:r>
            <a:r>
              <a:rPr lang="en-IN" sz="2800" b="1" dirty="0"/>
              <a:t>Quantity</a:t>
            </a:r>
            <a:r>
              <a:rPr lang="en-IN" sz="2800" dirty="0"/>
              <a:t> → Number of items sold</a:t>
            </a:r>
          </a:p>
          <a:p>
            <a:r>
              <a:rPr lang="en-IN" sz="2800" dirty="0"/>
              <a:t>🎟️ </a:t>
            </a:r>
            <a:r>
              <a:rPr lang="en-IN" sz="2800" b="1" dirty="0"/>
              <a:t>Discount</a:t>
            </a:r>
            <a:r>
              <a:rPr lang="en-IN" sz="2800" dirty="0"/>
              <a:t> → Applied discount (%)</a:t>
            </a:r>
          </a:p>
          <a:p>
            <a:r>
              <a:rPr lang="en-IN" sz="2800" dirty="0"/>
              <a:t>📈 </a:t>
            </a:r>
            <a:r>
              <a:rPr lang="en-IN" sz="2800" b="1" dirty="0"/>
              <a:t>Profit</a:t>
            </a:r>
            <a:r>
              <a:rPr lang="en-IN" sz="2800" dirty="0"/>
              <a:t> → Profit/Loss from sale</a:t>
            </a:r>
          </a:p>
          <a:p>
            <a:r>
              <a:rPr lang="en-IN" sz="2800" dirty="0"/>
              <a:t>🚛 </a:t>
            </a:r>
            <a:r>
              <a:rPr lang="en-IN" sz="2800" b="1" dirty="0"/>
              <a:t>Shipping Cost</a:t>
            </a:r>
            <a:r>
              <a:rPr lang="en-IN" sz="2800" dirty="0"/>
              <a:t> → Logistic cost</a:t>
            </a:r>
          </a:p>
          <a:p>
            <a:r>
              <a:rPr lang="en-IN" sz="2800" dirty="0"/>
              <a:t>🔥 </a:t>
            </a:r>
            <a:r>
              <a:rPr lang="en-IN" sz="2800" b="1" dirty="0"/>
              <a:t>Order Priority</a:t>
            </a:r>
            <a:r>
              <a:rPr lang="en-IN" sz="2800" dirty="0"/>
              <a:t> → Urgency (Low, Medium, High, Critical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62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8523B-5595-0A98-F1A3-2843F81E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DE574E-02CF-8B4B-ED20-82F25CC89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FB70B-8714-9070-5019-66DAB9B9D652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FBE0CB-32D1-4F6C-7C6F-E6D7EE076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F8EFCB-3FB2-8822-1A1B-9900250E8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033522"/>
            <a:ext cx="2936498" cy="293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81B87-13BF-B8DC-9601-BAFA9457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12C259-BA41-81C0-7240-1C5B2DB403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A7971-6964-C66B-6151-460F58EA9160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3F45D6-C3C7-4495-59F1-2925006E8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E1C6BF-2443-2FA8-01A9-CEFE41F51E77}"/>
              </a:ext>
            </a:extLst>
          </p:cNvPr>
          <p:cNvSpPr txBox="1"/>
          <p:nvPr/>
        </p:nvSpPr>
        <p:spPr>
          <a:xfrm>
            <a:off x="4463846" y="283339"/>
            <a:ext cx="4542503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CREATE TABLE </a:t>
            </a:r>
            <a:r>
              <a:rPr lang="en-IN" sz="1600" dirty="0" err="1"/>
              <a:t>superstore_sales</a:t>
            </a:r>
            <a:r>
              <a:rPr lang="en-IN" sz="1600" dirty="0"/>
              <a:t> (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Row_ID</a:t>
            </a:r>
            <a:r>
              <a:rPr lang="en-IN" sz="1600" dirty="0"/>
              <a:t> INT PRIMARY KEY,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Order_ID</a:t>
            </a:r>
            <a:r>
              <a:rPr lang="en-IN" sz="1600" dirty="0"/>
              <a:t> VARCHAR(50),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Order_Date</a:t>
            </a:r>
            <a:r>
              <a:rPr lang="en-IN" sz="1600" dirty="0"/>
              <a:t> DATE,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Ship_Date</a:t>
            </a:r>
            <a:r>
              <a:rPr lang="en-IN" sz="1600" dirty="0"/>
              <a:t> DATE,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Ship_Mode</a:t>
            </a:r>
            <a:r>
              <a:rPr lang="en-IN" sz="1600" dirty="0"/>
              <a:t> VARCHAR(50),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Customer_ID</a:t>
            </a:r>
            <a:r>
              <a:rPr lang="en-IN" sz="1600" dirty="0"/>
              <a:t> VARCHAR(50),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Customer_Name</a:t>
            </a:r>
            <a:r>
              <a:rPr lang="en-IN" sz="1600" dirty="0"/>
              <a:t> VARCHAR(255),</a:t>
            </a:r>
          </a:p>
          <a:p>
            <a:r>
              <a:rPr lang="en-IN" sz="1600" dirty="0"/>
              <a:t>    Segment VARCHAR(50),</a:t>
            </a:r>
          </a:p>
          <a:p>
            <a:r>
              <a:rPr lang="en-IN" sz="1600" dirty="0"/>
              <a:t>    City VARCHAR(100),</a:t>
            </a:r>
          </a:p>
          <a:p>
            <a:r>
              <a:rPr lang="en-IN" sz="1600" dirty="0"/>
              <a:t>    State VARCHAR(100),</a:t>
            </a:r>
          </a:p>
          <a:p>
            <a:r>
              <a:rPr lang="en-IN" sz="1600" dirty="0"/>
              <a:t>    Country VARCHAR(100),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Postal_Code</a:t>
            </a:r>
            <a:r>
              <a:rPr lang="en-IN" sz="1600" dirty="0"/>
              <a:t> INT NULL,</a:t>
            </a:r>
          </a:p>
          <a:p>
            <a:r>
              <a:rPr lang="en-IN" sz="1600" dirty="0"/>
              <a:t>    Market VARCHAR(50),</a:t>
            </a:r>
          </a:p>
          <a:p>
            <a:r>
              <a:rPr lang="en-IN" sz="1600" dirty="0"/>
              <a:t>    Region VARCHAR(50),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Product_ID</a:t>
            </a:r>
            <a:r>
              <a:rPr lang="en-IN" sz="1600" dirty="0"/>
              <a:t> VARCHAR(50),</a:t>
            </a:r>
          </a:p>
          <a:p>
            <a:r>
              <a:rPr lang="en-IN" sz="1600" dirty="0"/>
              <a:t>    Category VARCHAR(50),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Sub_Category</a:t>
            </a:r>
            <a:r>
              <a:rPr lang="en-IN" sz="1600" dirty="0"/>
              <a:t> VARCHAR(50),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Product_Name</a:t>
            </a:r>
            <a:r>
              <a:rPr lang="en-IN" sz="1600" dirty="0"/>
              <a:t> VARCHAR(255),</a:t>
            </a:r>
          </a:p>
          <a:p>
            <a:r>
              <a:rPr lang="en-IN" sz="1600" dirty="0"/>
              <a:t>    Sales DECIMAL(10,2),</a:t>
            </a:r>
          </a:p>
          <a:p>
            <a:r>
              <a:rPr lang="en-IN" sz="1600" dirty="0"/>
              <a:t>    Quantity INT,</a:t>
            </a:r>
          </a:p>
          <a:p>
            <a:r>
              <a:rPr lang="en-IN" sz="1600" dirty="0"/>
              <a:t>    Discount DECIMAL(5,2),</a:t>
            </a:r>
          </a:p>
          <a:p>
            <a:r>
              <a:rPr lang="en-IN" sz="1600" dirty="0"/>
              <a:t>    Profit DECIMAL(10,2),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Shipping_Cost</a:t>
            </a:r>
            <a:r>
              <a:rPr lang="en-IN" sz="1600" dirty="0"/>
              <a:t> DECIMAL(10,2),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Order_Priority</a:t>
            </a:r>
            <a:r>
              <a:rPr lang="en-IN" sz="1600" dirty="0"/>
              <a:t> VARCHAR(50)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9B661-7CF9-AF8B-2942-6D54C40A801E}"/>
              </a:ext>
            </a:extLst>
          </p:cNvPr>
          <p:cNvSpPr txBox="1"/>
          <p:nvPr/>
        </p:nvSpPr>
        <p:spPr>
          <a:xfrm>
            <a:off x="4316361" y="-17517"/>
            <a:ext cx="395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Superstore dataset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121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5F062-AA49-2486-87E7-C6C9D0F6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5EE7D1-87B0-A868-715F-C84C1803E401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FF05BD-3B27-85AC-7B83-617E7C83BB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2E085C-9600-300D-4979-40FC5170BDEF}"/>
              </a:ext>
            </a:extLst>
          </p:cNvPr>
          <p:cNvSpPr txBox="1"/>
          <p:nvPr/>
        </p:nvSpPr>
        <p:spPr>
          <a:xfrm>
            <a:off x="283339" y="628114"/>
            <a:ext cx="5144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2000" dirty="0"/>
              <a:t>Find total sales for superstore dataset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CCAFBF-3587-8132-A814-70FCA85AA7AC}"/>
              </a:ext>
            </a:extLst>
          </p:cNvPr>
          <p:cNvSpPr txBox="1"/>
          <p:nvPr/>
        </p:nvSpPr>
        <p:spPr>
          <a:xfrm>
            <a:off x="283338" y="2334740"/>
            <a:ext cx="4780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sz="2000" dirty="0"/>
              <a:t>Find total profit for superstore dataset</a:t>
            </a:r>
            <a:endParaRPr lang="en-IN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770977-909B-3FB2-BDBF-307FC6343972}"/>
              </a:ext>
            </a:extLst>
          </p:cNvPr>
          <p:cNvSpPr txBox="1"/>
          <p:nvPr/>
        </p:nvSpPr>
        <p:spPr>
          <a:xfrm>
            <a:off x="283339" y="3834214"/>
            <a:ext cx="4780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r>
              <a:rPr lang="en-US" sz="2000" dirty="0"/>
              <a:t>Find top product based by sales and profit</a:t>
            </a:r>
            <a:endParaRPr lang="en-IN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B452AC2-EC2A-8B2C-5BB8-75661D54B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36" y="2933606"/>
            <a:ext cx="5220468" cy="7018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542CDB-618D-CE76-B884-BC1851641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731" y="907516"/>
            <a:ext cx="1690624" cy="10340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90C589-C2B5-9700-A048-38634CAB38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678" y="1313065"/>
            <a:ext cx="5220468" cy="6553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544929-D76C-5263-BD21-76028A70D8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45" y="4407132"/>
            <a:ext cx="6255706" cy="821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800B79-0819-CBA1-B690-83E7C66905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2192" y="2534795"/>
            <a:ext cx="1690624" cy="9758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67AAED-AFED-78A8-9E00-4ECF679BAC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4955" y="4489095"/>
            <a:ext cx="4610575" cy="62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6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F983-8676-33EB-95F1-AEF3EC03F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3E5C20-9AA0-8FC0-A972-8D6E40842E0A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697F43-1B78-5E5B-0E5F-8FB9956C4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FC6A4-23A0-7996-97AC-659A96185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464" y="734612"/>
            <a:ext cx="2761913" cy="1190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DE761F-F9EC-F0D6-BD9B-11BEF88FC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78" y="1405150"/>
            <a:ext cx="7079286" cy="578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23F810-25EA-2C45-C1D4-A38D45E00484}"/>
              </a:ext>
            </a:extLst>
          </p:cNvPr>
          <p:cNvSpPr txBox="1"/>
          <p:nvPr/>
        </p:nvSpPr>
        <p:spPr>
          <a:xfrm>
            <a:off x="566678" y="844062"/>
            <a:ext cx="3677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Find Profitability as per Category </a:t>
            </a:r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177108-3319-062A-88A8-E3798CF55694}"/>
              </a:ext>
            </a:extLst>
          </p:cNvPr>
          <p:cNvGrpSpPr/>
          <p:nvPr/>
        </p:nvGrpSpPr>
        <p:grpSpPr>
          <a:xfrm>
            <a:off x="437888" y="2597459"/>
            <a:ext cx="7208076" cy="1057539"/>
            <a:chOff x="566678" y="2647243"/>
            <a:chExt cx="7208076" cy="105753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432B9A-CD39-91B1-E2F7-D0BD6210623B}"/>
                </a:ext>
              </a:extLst>
            </p:cNvPr>
            <p:cNvSpPr txBox="1"/>
            <p:nvPr/>
          </p:nvSpPr>
          <p:spPr>
            <a:xfrm>
              <a:off x="566678" y="2647243"/>
              <a:ext cx="367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5. Find sales as per category</a:t>
              </a:r>
              <a:endParaRPr lang="en-IN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12A744B-0AF2-9FC8-912F-2EC031E07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5468" y="3126410"/>
              <a:ext cx="7079286" cy="57837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DB12E7-0C0B-F223-FF40-2B8D84CD7E3A}"/>
              </a:ext>
            </a:extLst>
          </p:cNvPr>
          <p:cNvGrpSpPr/>
          <p:nvPr/>
        </p:nvGrpSpPr>
        <p:grpSpPr>
          <a:xfrm>
            <a:off x="433566" y="4686837"/>
            <a:ext cx="7079286" cy="1185004"/>
            <a:chOff x="566678" y="4207671"/>
            <a:chExt cx="7079286" cy="118500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937377-C3B0-4C39-3E52-102C7379BF1B}"/>
                </a:ext>
              </a:extLst>
            </p:cNvPr>
            <p:cNvSpPr txBox="1"/>
            <p:nvPr/>
          </p:nvSpPr>
          <p:spPr>
            <a:xfrm>
              <a:off x="699790" y="4207671"/>
              <a:ext cx="36770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6. Find total customers </a:t>
              </a:r>
              <a:endParaRPr lang="en-IN" dirty="0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054FA0D-FFE7-5260-435E-91523C388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6678" y="4957142"/>
              <a:ext cx="7079286" cy="435533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757BE3D4-64E6-24BF-E23A-FCCB809EF3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4464" y="2597459"/>
            <a:ext cx="2890192" cy="14777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914ABC-5D4B-37FA-D150-D6582B401E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1017" y="4932767"/>
            <a:ext cx="2420294" cy="93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78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E1AE-ACFA-DD9B-4790-F56257F1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5FDC21-CCCA-37B1-E55B-10CC12877D02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4D38D0-B1D1-3DD0-2FFA-4B7FE61E1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994FE4-77C5-FB23-AC16-EFB7C23B1BA6}"/>
              </a:ext>
            </a:extLst>
          </p:cNvPr>
          <p:cNvSpPr txBox="1"/>
          <p:nvPr/>
        </p:nvSpPr>
        <p:spPr>
          <a:xfrm>
            <a:off x="566678" y="903662"/>
            <a:ext cx="364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7.Find top 10 customers by sale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8E6417-89D0-5941-DA6A-AE0C9A2E0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78" y="1434312"/>
            <a:ext cx="6177471" cy="496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A9B0C3-FB42-09CD-B974-3EA499E3A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3342" y="298264"/>
            <a:ext cx="1890357" cy="21458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3413F8-3AB9-FF15-47D2-4BA0EA4EA3AB}"/>
              </a:ext>
            </a:extLst>
          </p:cNvPr>
          <p:cNvSpPr txBox="1"/>
          <p:nvPr/>
        </p:nvSpPr>
        <p:spPr>
          <a:xfrm>
            <a:off x="566678" y="2759966"/>
            <a:ext cx="364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8.Find 10 top countries by sale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320409-AC64-074A-98E7-B86A060F0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00" y="3384848"/>
            <a:ext cx="6751905" cy="5740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5A1E037-4251-B1A1-482A-15B6B53BE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3342" y="2498244"/>
            <a:ext cx="1890357" cy="17732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2F07F1-92AA-33F2-B964-1B1C54784198}"/>
              </a:ext>
            </a:extLst>
          </p:cNvPr>
          <p:cNvSpPr txBox="1"/>
          <p:nvPr/>
        </p:nvSpPr>
        <p:spPr>
          <a:xfrm>
            <a:off x="664600" y="4694274"/>
            <a:ext cx="364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9.Find the loss making cities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3CFC00-9723-FFA3-C2BA-E8141D28F5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685" y="5320991"/>
            <a:ext cx="7048741" cy="3693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8869851-A675-F1A0-1826-FD081AC2EE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2075" y="4381946"/>
            <a:ext cx="2515712" cy="199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7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04880-9646-99FA-AF8C-DA6B54AA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63540F-4D30-457C-A217-10E7A1FEA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0D9CB-650D-EAA1-A8F2-4398857AAB6B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A87227-087A-3614-7210-9EF2B86AB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70CE060-F196-B133-EEAB-0B509363B2EF}"/>
              </a:ext>
            </a:extLst>
          </p:cNvPr>
          <p:cNvGrpSpPr/>
          <p:nvPr/>
        </p:nvGrpSpPr>
        <p:grpSpPr>
          <a:xfrm>
            <a:off x="394740" y="898773"/>
            <a:ext cx="10656398" cy="4250217"/>
            <a:chOff x="394740" y="898773"/>
            <a:chExt cx="10656398" cy="425021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E978801-A85F-D22A-BCA6-1597F2490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4740" y="1600200"/>
              <a:ext cx="7396745" cy="73301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8DA4C7B-F070-6306-B9B4-CC7C915A2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83568" y="2443656"/>
              <a:ext cx="4267570" cy="270533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F538D0C-FCF3-83D8-77BA-B2D556BB1F41}"/>
                </a:ext>
              </a:extLst>
            </p:cNvPr>
            <p:cNvSpPr txBox="1"/>
            <p:nvPr/>
          </p:nvSpPr>
          <p:spPr>
            <a:xfrm>
              <a:off x="394740" y="898773"/>
              <a:ext cx="60256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10.Find Top Loss-making products (due to heavy discounts)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20547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599A-38AF-A8A7-7D5E-4227D700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DB9A1B-BB1A-433F-6E7E-8EB4B9DE3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6109-5098-54DA-F206-905D784A355E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BE5966-F961-9155-B0AE-0A5F0ADD9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477" y="1600200"/>
            <a:ext cx="2635045" cy="2635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A07022-8E47-4946-A4BC-4481E05CE85C}"/>
              </a:ext>
            </a:extLst>
          </p:cNvPr>
          <p:cNvSpPr txBox="1"/>
          <p:nvPr/>
        </p:nvSpPr>
        <p:spPr>
          <a:xfrm>
            <a:off x="5201263" y="4014420"/>
            <a:ext cx="2212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Visuals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461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863A-F594-D4C1-D3BF-E10B2111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5F87DF-76FC-F357-5604-E3C47F0665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27051-84B0-2D6E-2A3F-B82098E6353E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F582A8-CB26-70AD-8923-CCF20B641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EF903-2800-0F40-4F36-3628DF4A7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753" y="494887"/>
            <a:ext cx="10248283" cy="576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66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987A5-90AC-C01E-E156-BA764B60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28C257-A50B-C5A5-AC49-3B119544BC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A15C0-5E6C-A855-B27F-F6B624489CE3}"/>
              </a:ext>
            </a:extLst>
          </p:cNvPr>
          <p:cNvSpPr txBox="1"/>
          <p:nvPr/>
        </p:nvSpPr>
        <p:spPr>
          <a:xfrm>
            <a:off x="10179931" y="6488668"/>
            <a:ext cx="21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ARJUN  GAWANDE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B38D50-EDF5-187D-EB6D-B8F85A46B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678" cy="566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80BDB6-84CE-F493-3630-FC568224C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607" y="796477"/>
            <a:ext cx="9662080" cy="541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66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583</Words>
  <Application>Microsoft Office PowerPoint</Application>
  <PresentationFormat>Widescreen</PresentationFormat>
  <Paragraphs>171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Gawande</dc:creator>
  <cp:lastModifiedBy>Arjun Gawande</cp:lastModifiedBy>
  <cp:revision>2</cp:revision>
  <dcterms:created xsi:type="dcterms:W3CDTF">2025-09-18T19:43:38Z</dcterms:created>
  <dcterms:modified xsi:type="dcterms:W3CDTF">2025-11-07T13:05:46Z</dcterms:modified>
</cp:coreProperties>
</file>